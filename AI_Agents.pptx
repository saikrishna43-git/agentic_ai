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67" r:id="rId4"/>
    <p:sldId id="257" r:id="rId5"/>
    <p:sldId id="268" r:id="rId6"/>
    <p:sldId id="258" r:id="rId7"/>
    <p:sldId id="263" r:id="rId8"/>
    <p:sldId id="264" r:id="rId9"/>
    <p:sldId id="259" r:id="rId10"/>
    <p:sldId id="269" r:id="rId11"/>
    <p:sldId id="270" r:id="rId12"/>
    <p:sldId id="271" r:id="rId13"/>
    <p:sldId id="260" r:id="rId14"/>
    <p:sldId id="272" r:id="rId15"/>
    <p:sldId id="273" r:id="rId16"/>
    <p:sldId id="274" r:id="rId17"/>
    <p:sldId id="275" r:id="rId18"/>
    <p:sldId id="276" r:id="rId19"/>
    <p:sldId id="261" r:id="rId20"/>
    <p:sldId id="265" r:id="rId21"/>
    <p:sldId id="277" r:id="rId22"/>
    <p:sldId id="278" r:id="rId23"/>
    <p:sldId id="279" r:id="rId24"/>
    <p:sldId id="280" r:id="rId25"/>
    <p:sldId id="282" r:id="rId26"/>
    <p:sldId id="283" r:id="rId27"/>
    <p:sldId id="284" r:id="rId28"/>
    <p:sldId id="286" r:id="rId29"/>
    <p:sldId id="287" r:id="rId30"/>
    <p:sldId id="288" r:id="rId31"/>
    <p:sldId id="289" r:id="rId32"/>
    <p:sldId id="292" r:id="rId33"/>
    <p:sldId id="290" r:id="rId34"/>
    <p:sldId id="291" r:id="rId35"/>
    <p:sldId id="285"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7" d="100"/>
          <a:sy n="77" d="100"/>
        </p:scale>
        <p:origin x="161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258554F-E47C-F11E-7146-1D720548BE79}"/>
              </a:ext>
            </a:extLst>
          </p:cNvPr>
          <p:cNvPicPr>
            <a:picLocks noChangeAspect="1"/>
          </p:cNvPicPr>
          <p:nvPr/>
        </p:nvPicPr>
        <p:blipFill>
          <a:blip r:embed="rId2"/>
          <a:stretch>
            <a:fillRect/>
          </a:stretch>
        </p:blipFill>
        <p:spPr>
          <a:xfrm>
            <a:off x="477078" y="640093"/>
            <a:ext cx="7364896" cy="4106604"/>
          </a:xfrm>
          <a:prstGeom prst="rect">
            <a:avLst/>
          </a:prstGeom>
        </p:spPr>
      </p:pic>
      <p:sp>
        <p:nvSpPr>
          <p:cNvPr id="8" name="TextBox 7">
            <a:extLst>
              <a:ext uri="{FF2B5EF4-FFF2-40B4-BE49-F238E27FC236}">
                <a16:creationId xmlns:a16="http://schemas.microsoft.com/office/drawing/2014/main" id="{71763ED4-0B55-D349-5494-C2E8D1D2104A}"/>
              </a:ext>
            </a:extLst>
          </p:cNvPr>
          <p:cNvSpPr txBox="1"/>
          <p:nvPr/>
        </p:nvSpPr>
        <p:spPr>
          <a:xfrm>
            <a:off x="2544416" y="3637722"/>
            <a:ext cx="4313583" cy="769441"/>
          </a:xfrm>
          <a:prstGeom prst="rect">
            <a:avLst/>
          </a:prstGeom>
          <a:noFill/>
        </p:spPr>
        <p:txBody>
          <a:bodyPr wrap="square">
            <a:spAutoFit/>
          </a:bodyPr>
          <a:lstStyle/>
          <a:p>
            <a:r>
              <a:rPr lang="en-IN" sz="4400" b="1" dirty="0">
                <a:solidFill>
                  <a:srgbClr val="FF0000"/>
                </a:solidFill>
              </a:rPr>
              <a:t>Premalatha 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1EFA13-5E6A-6251-44AE-EE89CB6DF219}"/>
              </a:ext>
            </a:extLst>
          </p:cNvPr>
          <p:cNvPicPr>
            <a:picLocks noChangeAspect="1"/>
          </p:cNvPicPr>
          <p:nvPr/>
        </p:nvPicPr>
        <p:blipFill>
          <a:blip r:embed="rId2"/>
          <a:stretch>
            <a:fillRect/>
          </a:stretch>
        </p:blipFill>
        <p:spPr>
          <a:xfrm>
            <a:off x="658616" y="533685"/>
            <a:ext cx="7826768" cy="2705677"/>
          </a:xfrm>
          <a:prstGeom prst="rect">
            <a:avLst/>
          </a:prstGeom>
        </p:spPr>
      </p:pic>
      <p:pic>
        <p:nvPicPr>
          <p:cNvPr id="5" name="Picture 4">
            <a:extLst>
              <a:ext uri="{FF2B5EF4-FFF2-40B4-BE49-F238E27FC236}">
                <a16:creationId xmlns:a16="http://schemas.microsoft.com/office/drawing/2014/main" id="{2442C149-229D-9718-4776-A901FB7A5BD7}"/>
              </a:ext>
            </a:extLst>
          </p:cNvPr>
          <p:cNvPicPr>
            <a:picLocks noChangeAspect="1"/>
          </p:cNvPicPr>
          <p:nvPr/>
        </p:nvPicPr>
        <p:blipFill>
          <a:blip r:embed="rId3"/>
          <a:stretch>
            <a:fillRect/>
          </a:stretch>
        </p:blipFill>
        <p:spPr>
          <a:xfrm>
            <a:off x="856541" y="3618638"/>
            <a:ext cx="7826768" cy="2225571"/>
          </a:xfrm>
          <a:prstGeom prst="rect">
            <a:avLst/>
          </a:prstGeom>
        </p:spPr>
      </p:pic>
    </p:spTree>
    <p:extLst>
      <p:ext uri="{BB962C8B-B14F-4D97-AF65-F5344CB8AC3E}">
        <p14:creationId xmlns:p14="http://schemas.microsoft.com/office/powerpoint/2010/main" val="1196351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8290B2-5AB7-1AFE-7469-4D3AD3DD6536}"/>
              </a:ext>
            </a:extLst>
          </p:cNvPr>
          <p:cNvPicPr>
            <a:picLocks noChangeAspect="1"/>
          </p:cNvPicPr>
          <p:nvPr/>
        </p:nvPicPr>
        <p:blipFill>
          <a:blip r:embed="rId2"/>
          <a:stretch>
            <a:fillRect/>
          </a:stretch>
        </p:blipFill>
        <p:spPr>
          <a:xfrm>
            <a:off x="374064" y="794780"/>
            <a:ext cx="8370523" cy="2316168"/>
          </a:xfrm>
          <a:prstGeom prst="rect">
            <a:avLst/>
          </a:prstGeom>
        </p:spPr>
      </p:pic>
      <p:pic>
        <p:nvPicPr>
          <p:cNvPr id="5" name="Picture 4">
            <a:extLst>
              <a:ext uri="{FF2B5EF4-FFF2-40B4-BE49-F238E27FC236}">
                <a16:creationId xmlns:a16="http://schemas.microsoft.com/office/drawing/2014/main" id="{254F5A94-3369-1E79-6C73-6FD2BC350504}"/>
              </a:ext>
            </a:extLst>
          </p:cNvPr>
          <p:cNvPicPr>
            <a:picLocks noChangeAspect="1"/>
          </p:cNvPicPr>
          <p:nvPr/>
        </p:nvPicPr>
        <p:blipFill>
          <a:blip r:embed="rId3"/>
          <a:stretch>
            <a:fillRect/>
          </a:stretch>
        </p:blipFill>
        <p:spPr>
          <a:xfrm>
            <a:off x="374064" y="4184373"/>
            <a:ext cx="8370523" cy="1972171"/>
          </a:xfrm>
          <a:prstGeom prst="rect">
            <a:avLst/>
          </a:prstGeom>
        </p:spPr>
      </p:pic>
    </p:spTree>
    <p:extLst>
      <p:ext uri="{BB962C8B-B14F-4D97-AF65-F5344CB8AC3E}">
        <p14:creationId xmlns:p14="http://schemas.microsoft.com/office/powerpoint/2010/main" val="4108393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an AI Agent?</a:t>
            </a:r>
          </a:p>
        </p:txBody>
      </p:sp>
      <p:sp>
        <p:nvSpPr>
          <p:cNvPr id="3" name="Content Placeholder 2"/>
          <p:cNvSpPr>
            <a:spLocks noGrp="1"/>
          </p:cNvSpPr>
          <p:nvPr>
            <p:ph idx="1"/>
          </p:nvPr>
        </p:nvSpPr>
        <p:spPr/>
        <p:txBody>
          <a:bodyPr/>
          <a:lstStyle/>
          <a:p>
            <a:r>
              <a:rPr dirty="0"/>
              <a:t>AI Agents are autonomous systems that can reason, plan, act, and self-correct.</a:t>
            </a:r>
          </a:p>
          <a:p>
            <a:r>
              <a:rPr dirty="0"/>
              <a:t>They can search, filter, summarize, and format results with minimal human input.</a:t>
            </a:r>
          </a:p>
        </p:txBody>
      </p:sp>
      <p:sp>
        <p:nvSpPr>
          <p:cNvPr id="9" name="Rectangle: Rounded Corners 8">
            <a:extLst>
              <a:ext uri="{FF2B5EF4-FFF2-40B4-BE49-F238E27FC236}">
                <a16:creationId xmlns:a16="http://schemas.microsoft.com/office/drawing/2014/main" id="{7F02F2A7-94D9-2A26-73BF-C2A9754946EB}"/>
              </a:ext>
            </a:extLst>
          </p:cNvPr>
          <p:cNvSpPr/>
          <p:nvPr/>
        </p:nvSpPr>
        <p:spPr>
          <a:xfrm>
            <a:off x="229428" y="4552122"/>
            <a:ext cx="1759226" cy="1003852"/>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IN" sz="2800" b="1" dirty="0">
                <a:solidFill>
                  <a:srgbClr val="FF0000"/>
                </a:solidFill>
                <a:highlight>
                  <a:srgbClr val="FFFF00"/>
                </a:highlight>
              </a:rPr>
              <a:t>Reason</a:t>
            </a:r>
          </a:p>
        </p:txBody>
      </p:sp>
      <p:sp>
        <p:nvSpPr>
          <p:cNvPr id="10" name="Rectangle: Rounded Corners 9">
            <a:extLst>
              <a:ext uri="{FF2B5EF4-FFF2-40B4-BE49-F238E27FC236}">
                <a16:creationId xmlns:a16="http://schemas.microsoft.com/office/drawing/2014/main" id="{6150993F-1AB1-8CBF-F01F-F1D36CDA7D5D}"/>
              </a:ext>
            </a:extLst>
          </p:cNvPr>
          <p:cNvSpPr/>
          <p:nvPr/>
        </p:nvSpPr>
        <p:spPr>
          <a:xfrm>
            <a:off x="2514600" y="4552122"/>
            <a:ext cx="1759226" cy="1003852"/>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IN" sz="2800" b="1" dirty="0">
                <a:solidFill>
                  <a:srgbClr val="FF0000"/>
                </a:solidFill>
                <a:highlight>
                  <a:srgbClr val="FFFF00"/>
                </a:highlight>
              </a:rPr>
              <a:t>Plan</a:t>
            </a:r>
          </a:p>
        </p:txBody>
      </p:sp>
      <p:sp>
        <p:nvSpPr>
          <p:cNvPr id="11" name="Rectangle: Rounded Corners 10">
            <a:extLst>
              <a:ext uri="{FF2B5EF4-FFF2-40B4-BE49-F238E27FC236}">
                <a16:creationId xmlns:a16="http://schemas.microsoft.com/office/drawing/2014/main" id="{F641FE8B-D8DC-D6D9-D439-C0FDD4C84214}"/>
              </a:ext>
            </a:extLst>
          </p:cNvPr>
          <p:cNvSpPr/>
          <p:nvPr/>
        </p:nvSpPr>
        <p:spPr>
          <a:xfrm>
            <a:off x="4721087" y="4631635"/>
            <a:ext cx="1759226" cy="1003852"/>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IN" sz="2800" b="1" dirty="0">
                <a:solidFill>
                  <a:srgbClr val="FF0000"/>
                </a:solidFill>
                <a:highlight>
                  <a:srgbClr val="FFFF00"/>
                </a:highlight>
              </a:rPr>
              <a:t>Act</a:t>
            </a:r>
          </a:p>
        </p:txBody>
      </p:sp>
      <p:sp>
        <p:nvSpPr>
          <p:cNvPr id="12" name="Rectangle: Rounded Corners 11">
            <a:extLst>
              <a:ext uri="{FF2B5EF4-FFF2-40B4-BE49-F238E27FC236}">
                <a16:creationId xmlns:a16="http://schemas.microsoft.com/office/drawing/2014/main" id="{C6BD9FCC-0FA4-4344-023D-F513F69D28C2}"/>
              </a:ext>
            </a:extLst>
          </p:cNvPr>
          <p:cNvSpPr/>
          <p:nvPr/>
        </p:nvSpPr>
        <p:spPr>
          <a:xfrm>
            <a:off x="6927574" y="4631635"/>
            <a:ext cx="1759226" cy="1003852"/>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IN" sz="2800" b="1" dirty="0">
                <a:solidFill>
                  <a:srgbClr val="FF0000"/>
                </a:solidFill>
                <a:highlight>
                  <a:srgbClr val="FFFF00"/>
                </a:highlight>
              </a:rPr>
              <a:t>Self-</a:t>
            </a:r>
          </a:p>
          <a:p>
            <a:pPr algn="ctr"/>
            <a:r>
              <a:rPr lang="en-IN" sz="2800" b="1" dirty="0">
                <a:solidFill>
                  <a:srgbClr val="FF0000"/>
                </a:solidFill>
                <a:highlight>
                  <a:srgbClr val="FFFF00"/>
                </a:highlight>
              </a:rPr>
              <a:t>Correct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28D56B-591C-1D5F-83B7-5E9626AB9B34}"/>
              </a:ext>
            </a:extLst>
          </p:cNvPr>
          <p:cNvPicPr>
            <a:picLocks noChangeAspect="1"/>
          </p:cNvPicPr>
          <p:nvPr/>
        </p:nvPicPr>
        <p:blipFill>
          <a:blip r:embed="rId2"/>
          <a:stretch>
            <a:fillRect/>
          </a:stretch>
        </p:blipFill>
        <p:spPr>
          <a:xfrm>
            <a:off x="1491946" y="534743"/>
            <a:ext cx="7055705" cy="5957589"/>
          </a:xfrm>
          <a:prstGeom prst="rect">
            <a:avLst/>
          </a:prstGeom>
        </p:spPr>
      </p:pic>
    </p:spTree>
    <p:extLst>
      <p:ext uri="{BB962C8B-B14F-4D97-AF65-F5344CB8AC3E}">
        <p14:creationId xmlns:p14="http://schemas.microsoft.com/office/powerpoint/2010/main" val="2131768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 vs LLM vs RAG</a:t>
            </a:r>
          </a:p>
        </p:txBody>
      </p:sp>
      <p:sp>
        <p:nvSpPr>
          <p:cNvPr id="3" name="Content Placeholder 2"/>
          <p:cNvSpPr>
            <a:spLocks noGrp="1"/>
          </p:cNvSpPr>
          <p:nvPr>
            <p:ph idx="1"/>
          </p:nvPr>
        </p:nvSpPr>
        <p:spPr/>
        <p:txBody>
          <a:bodyPr/>
          <a:lstStyle/>
          <a:p>
            <a:r>
              <a:rPr dirty="0"/>
              <a:t>LLM = Brain (knowledge and reasoning).</a:t>
            </a:r>
          </a:p>
          <a:p>
            <a:r>
              <a:rPr dirty="0"/>
              <a:t>RAG = Fresh knowledge source (retrieval + generation).</a:t>
            </a:r>
          </a:p>
          <a:p>
            <a:r>
              <a:rPr dirty="0"/>
              <a:t>Agent = Decision-maker (uses LLM + tools + planning).</a:t>
            </a:r>
            <a:endParaRPr lang="en-IN" dirty="0"/>
          </a:p>
          <a:p>
            <a:endParaRPr dirty="0"/>
          </a:p>
        </p:txBody>
      </p:sp>
      <p:pic>
        <p:nvPicPr>
          <p:cNvPr id="7" name="Picture 6">
            <a:extLst>
              <a:ext uri="{FF2B5EF4-FFF2-40B4-BE49-F238E27FC236}">
                <a16:creationId xmlns:a16="http://schemas.microsoft.com/office/drawing/2014/main" id="{9347D9A2-4EB0-0A22-06AB-3CD966A5DDAA}"/>
              </a:ext>
            </a:extLst>
          </p:cNvPr>
          <p:cNvPicPr>
            <a:picLocks noChangeAspect="1"/>
          </p:cNvPicPr>
          <p:nvPr/>
        </p:nvPicPr>
        <p:blipFill>
          <a:blip r:embed="rId2"/>
          <a:stretch>
            <a:fillRect/>
          </a:stretch>
        </p:blipFill>
        <p:spPr>
          <a:xfrm>
            <a:off x="3635212" y="4928477"/>
            <a:ext cx="3324689" cy="562053"/>
          </a:xfrm>
          <a:prstGeom prst="rect">
            <a:avLst/>
          </a:prstGeom>
        </p:spPr>
      </p:pic>
      <p:pic>
        <p:nvPicPr>
          <p:cNvPr id="9" name="Picture 8">
            <a:extLst>
              <a:ext uri="{FF2B5EF4-FFF2-40B4-BE49-F238E27FC236}">
                <a16:creationId xmlns:a16="http://schemas.microsoft.com/office/drawing/2014/main" id="{9650A9FF-88F8-D777-A162-2AFAECEFADEC}"/>
              </a:ext>
            </a:extLst>
          </p:cNvPr>
          <p:cNvPicPr>
            <a:picLocks noChangeAspect="1"/>
          </p:cNvPicPr>
          <p:nvPr/>
        </p:nvPicPr>
        <p:blipFill>
          <a:blip r:embed="rId3"/>
          <a:stretch>
            <a:fillRect/>
          </a:stretch>
        </p:blipFill>
        <p:spPr>
          <a:xfrm>
            <a:off x="5297556" y="5490530"/>
            <a:ext cx="3031435" cy="665632"/>
          </a:xfrm>
          <a:prstGeom prst="rect">
            <a:avLst/>
          </a:prstGeom>
        </p:spPr>
      </p:pic>
      <p:pic>
        <p:nvPicPr>
          <p:cNvPr id="11" name="Picture 10">
            <a:extLst>
              <a:ext uri="{FF2B5EF4-FFF2-40B4-BE49-F238E27FC236}">
                <a16:creationId xmlns:a16="http://schemas.microsoft.com/office/drawing/2014/main" id="{8E13E4E6-940A-3D00-0D75-F33C6E3E5F2A}"/>
              </a:ext>
            </a:extLst>
          </p:cNvPr>
          <p:cNvPicPr>
            <a:picLocks noChangeAspect="1"/>
          </p:cNvPicPr>
          <p:nvPr/>
        </p:nvPicPr>
        <p:blipFill>
          <a:blip r:embed="rId4"/>
          <a:stretch>
            <a:fillRect/>
          </a:stretch>
        </p:blipFill>
        <p:spPr>
          <a:xfrm>
            <a:off x="931425" y="4336425"/>
            <a:ext cx="3640575" cy="56205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4258F3-2C29-FD17-4908-4E514C34CA7F}"/>
              </a:ext>
            </a:extLst>
          </p:cNvPr>
          <p:cNvPicPr>
            <a:picLocks noChangeAspect="1"/>
          </p:cNvPicPr>
          <p:nvPr/>
        </p:nvPicPr>
        <p:blipFill>
          <a:blip r:embed="rId2"/>
          <a:stretch>
            <a:fillRect/>
          </a:stretch>
        </p:blipFill>
        <p:spPr>
          <a:xfrm>
            <a:off x="1538308" y="778839"/>
            <a:ext cx="6094944" cy="5393664"/>
          </a:xfrm>
          <a:prstGeom prst="rect">
            <a:avLst/>
          </a:prstGeom>
        </p:spPr>
      </p:pic>
    </p:spTree>
    <p:extLst>
      <p:ext uri="{BB962C8B-B14F-4D97-AF65-F5344CB8AC3E}">
        <p14:creationId xmlns:p14="http://schemas.microsoft.com/office/powerpoint/2010/main" val="2554388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28ADEFA-13F8-2D7E-CB6F-CA46A67D43B3}"/>
              </a:ext>
            </a:extLst>
          </p:cNvPr>
          <p:cNvGraphicFramePr>
            <a:graphicFrameLocks noGrp="1"/>
          </p:cNvGraphicFramePr>
          <p:nvPr>
            <p:extLst>
              <p:ext uri="{D42A27DB-BD31-4B8C-83A1-F6EECF244321}">
                <p14:modId xmlns:p14="http://schemas.microsoft.com/office/powerpoint/2010/main" val="2023704097"/>
              </p:ext>
            </p:extLst>
          </p:nvPr>
        </p:nvGraphicFramePr>
        <p:xfrm>
          <a:off x="1381538" y="546652"/>
          <a:ext cx="7185992" cy="5849891"/>
        </p:xfrm>
        <a:graphic>
          <a:graphicData uri="http://schemas.openxmlformats.org/drawingml/2006/table">
            <a:tbl>
              <a:tblPr/>
              <a:tblGrid>
                <a:gridCol w="1796498">
                  <a:extLst>
                    <a:ext uri="{9D8B030D-6E8A-4147-A177-3AD203B41FA5}">
                      <a16:colId xmlns:a16="http://schemas.microsoft.com/office/drawing/2014/main" val="3469218291"/>
                    </a:ext>
                  </a:extLst>
                </a:gridCol>
                <a:gridCol w="1796498">
                  <a:extLst>
                    <a:ext uri="{9D8B030D-6E8A-4147-A177-3AD203B41FA5}">
                      <a16:colId xmlns:a16="http://schemas.microsoft.com/office/drawing/2014/main" val="2271744427"/>
                    </a:ext>
                  </a:extLst>
                </a:gridCol>
                <a:gridCol w="1796498">
                  <a:extLst>
                    <a:ext uri="{9D8B030D-6E8A-4147-A177-3AD203B41FA5}">
                      <a16:colId xmlns:a16="http://schemas.microsoft.com/office/drawing/2014/main" val="1427097419"/>
                    </a:ext>
                  </a:extLst>
                </a:gridCol>
                <a:gridCol w="1796498">
                  <a:extLst>
                    <a:ext uri="{9D8B030D-6E8A-4147-A177-3AD203B41FA5}">
                      <a16:colId xmlns:a16="http://schemas.microsoft.com/office/drawing/2014/main" val="892384956"/>
                    </a:ext>
                  </a:extLst>
                </a:gridCol>
              </a:tblGrid>
              <a:tr h="784362">
                <a:tc>
                  <a:txBody>
                    <a:bodyPr/>
                    <a:lstStyle/>
                    <a:p>
                      <a:pPr rtl="0">
                        <a:buNone/>
                      </a:pPr>
                      <a:r>
                        <a:rPr lang="en-IN" sz="1300" b="1">
                          <a:solidFill>
                            <a:srgbClr val="1B1C1D"/>
                          </a:solidFill>
                          <a:effectLst/>
                          <a:latin typeface="Google Sans Text"/>
                        </a:rPr>
                        <a:t>Feature</a:t>
                      </a:r>
                      <a:endParaRPr lang="en-IN" sz="1300">
                        <a:solidFill>
                          <a:srgbClr val="1B1C1D"/>
                        </a:solidFill>
                        <a:effectLst/>
                        <a:latin typeface="Google Sans Text"/>
                      </a:endParaRP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IN" sz="1300" b="1">
                          <a:solidFill>
                            <a:srgbClr val="1B1C1D"/>
                          </a:solidFill>
                          <a:effectLst/>
                          <a:latin typeface="Google Sans Text"/>
                        </a:rPr>
                        <a:t>Large Language Model (LLM)</a:t>
                      </a:r>
                      <a:endParaRPr lang="en-IN" sz="1300">
                        <a:solidFill>
                          <a:srgbClr val="1B1C1D"/>
                        </a:solidFill>
                        <a:effectLst/>
                        <a:latin typeface="Google Sans Text"/>
                      </a:endParaRP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IN" sz="1300" b="1">
                          <a:solidFill>
                            <a:srgbClr val="1B1C1D"/>
                          </a:solidFill>
                          <a:effectLst/>
                          <a:latin typeface="Google Sans Text"/>
                        </a:rPr>
                        <a:t>Retrieval-Augmented Generation (RAG)</a:t>
                      </a:r>
                      <a:endParaRPr lang="en-IN" sz="1300">
                        <a:solidFill>
                          <a:srgbClr val="1B1C1D"/>
                        </a:solidFill>
                        <a:effectLst/>
                        <a:latin typeface="Google Sans Text"/>
                      </a:endParaRP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IN" sz="1300" b="1">
                          <a:solidFill>
                            <a:srgbClr val="1B1C1D"/>
                          </a:solidFill>
                          <a:effectLst/>
                          <a:latin typeface="Google Sans Text"/>
                        </a:rPr>
                        <a:t>AI Agent</a:t>
                      </a:r>
                      <a:endParaRPr lang="en-IN" sz="1300">
                        <a:solidFill>
                          <a:srgbClr val="1B1C1D"/>
                        </a:solidFill>
                        <a:effectLst/>
                        <a:latin typeface="Google Sans Text"/>
                      </a:endParaRP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extLst>
                  <a:ext uri="{0D108BD9-81ED-4DB2-BD59-A6C34878D82A}">
                    <a16:rowId xmlns:a16="http://schemas.microsoft.com/office/drawing/2014/main" val="3533904641"/>
                  </a:ext>
                </a:extLst>
              </a:tr>
              <a:tr h="1699337">
                <a:tc>
                  <a:txBody>
                    <a:bodyPr/>
                    <a:lstStyle/>
                    <a:p>
                      <a:pPr rtl="0">
                        <a:buNone/>
                      </a:pPr>
                      <a:r>
                        <a:rPr lang="en-IN" sz="1300" b="1">
                          <a:solidFill>
                            <a:srgbClr val="1B1C1D"/>
                          </a:solidFill>
                          <a:effectLst/>
                          <a:latin typeface="Google Sans Text"/>
                        </a:rPr>
                        <a:t>Core Function</a:t>
                      </a:r>
                      <a:endParaRPr lang="en-IN" sz="1300">
                        <a:solidFill>
                          <a:srgbClr val="1B1C1D"/>
                        </a:solidFill>
                        <a:effectLst/>
                        <a:latin typeface="Google Sans Text"/>
                      </a:endParaRP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US" sz="1300" dirty="0">
                          <a:solidFill>
                            <a:srgbClr val="1B1C1D"/>
                          </a:solidFill>
                          <a:effectLst/>
                          <a:latin typeface="Google Sans Text"/>
                        </a:rPr>
                        <a:t>Generates human-like text based on its </a:t>
                      </a:r>
                      <a:r>
                        <a:rPr lang="en-US" sz="1300" b="1" dirty="0">
                          <a:solidFill>
                            <a:srgbClr val="1B1C1D"/>
                          </a:solidFill>
                          <a:effectLst/>
                          <a:latin typeface="Google Sans Text"/>
                        </a:rPr>
                        <a:t>static</a:t>
                      </a:r>
                      <a:r>
                        <a:rPr lang="en-US" sz="1300" dirty="0">
                          <a:solidFill>
                            <a:srgbClr val="1B1C1D"/>
                          </a:solidFill>
                          <a:effectLst/>
                          <a:latin typeface="Google Sans Text"/>
                        </a:rPr>
                        <a:t> training data.</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US" sz="1300">
                          <a:solidFill>
                            <a:srgbClr val="1B1C1D"/>
                          </a:solidFill>
                          <a:effectLst/>
                          <a:latin typeface="Google Sans Text"/>
                        </a:rPr>
                        <a:t>Augments an LLM's response by retrieving </a:t>
                      </a:r>
                      <a:r>
                        <a:rPr lang="en-US" sz="1300" b="1">
                          <a:solidFill>
                            <a:srgbClr val="1B1C1D"/>
                          </a:solidFill>
                          <a:effectLst/>
                          <a:latin typeface="Google Sans Text"/>
                        </a:rPr>
                        <a:t>external, current</a:t>
                      </a:r>
                      <a:r>
                        <a:rPr lang="en-US" sz="1300">
                          <a:solidFill>
                            <a:srgbClr val="1B1C1D"/>
                          </a:solidFill>
                          <a:effectLst/>
                          <a:latin typeface="Google Sans Text"/>
                        </a:rPr>
                        <a:t> data before generation.</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US" sz="1300">
                          <a:solidFill>
                            <a:srgbClr val="1B1C1D"/>
                          </a:solidFill>
                          <a:effectLst/>
                          <a:latin typeface="Google Sans Text"/>
                        </a:rPr>
                        <a:t>An autonomous system that uses an LLM/RAG as its "brain" to </a:t>
                      </a:r>
                      <a:r>
                        <a:rPr lang="en-US" sz="1300" b="1">
                          <a:solidFill>
                            <a:srgbClr val="1B1C1D"/>
                          </a:solidFill>
                          <a:effectLst/>
                          <a:latin typeface="Google Sans Text"/>
                        </a:rPr>
                        <a:t>plan, act, and self-correct</a:t>
                      </a:r>
                      <a:r>
                        <a:rPr lang="en-US" sz="1300">
                          <a:solidFill>
                            <a:srgbClr val="1B1C1D"/>
                          </a:solidFill>
                          <a:effectLst/>
                          <a:latin typeface="Google Sans Text"/>
                        </a:rPr>
                        <a:t> toward a goal.</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extLst>
                  <a:ext uri="{0D108BD9-81ED-4DB2-BD59-A6C34878D82A}">
                    <a16:rowId xmlns:a16="http://schemas.microsoft.com/office/drawing/2014/main" val="4272691348"/>
                  </a:ext>
                </a:extLst>
              </a:tr>
              <a:tr h="784362">
                <a:tc>
                  <a:txBody>
                    <a:bodyPr/>
                    <a:lstStyle/>
                    <a:p>
                      <a:pPr rtl="0">
                        <a:buNone/>
                      </a:pPr>
                      <a:r>
                        <a:rPr lang="en-IN" sz="1300" b="1">
                          <a:solidFill>
                            <a:srgbClr val="1B1C1D"/>
                          </a:solidFill>
                          <a:effectLst/>
                          <a:latin typeface="Google Sans Text"/>
                        </a:rPr>
                        <a:t>Knowledge Source</a:t>
                      </a:r>
                      <a:endParaRPr lang="en-IN" sz="1300">
                        <a:solidFill>
                          <a:srgbClr val="1B1C1D"/>
                        </a:solidFill>
                        <a:effectLst/>
                        <a:latin typeface="Google Sans Text"/>
                      </a:endParaRP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US" sz="1300" b="1">
                          <a:solidFill>
                            <a:srgbClr val="1B1C1D"/>
                          </a:solidFill>
                          <a:effectLst/>
                          <a:latin typeface="Google Sans Text"/>
                        </a:rPr>
                        <a:t>Internal</a:t>
                      </a:r>
                      <a:r>
                        <a:rPr lang="en-US" sz="1300">
                          <a:solidFill>
                            <a:srgbClr val="1B1C1D"/>
                          </a:solidFill>
                          <a:effectLst/>
                          <a:latin typeface="Google Sans Text"/>
                        </a:rPr>
                        <a:t> (what it was trained on).</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IN" sz="1300">
                          <a:solidFill>
                            <a:srgbClr val="1B1C1D"/>
                          </a:solidFill>
                          <a:effectLst/>
                          <a:latin typeface="Google Sans Text"/>
                        </a:rPr>
                        <a:t>Internal </a:t>
                      </a:r>
                      <a:r>
                        <a:rPr lang="en-IN" sz="1300" b="1">
                          <a:solidFill>
                            <a:srgbClr val="1B1C1D"/>
                          </a:solidFill>
                          <a:effectLst/>
                          <a:latin typeface="Google Sans Text"/>
                        </a:rPr>
                        <a:t>+ External</a:t>
                      </a:r>
                      <a:r>
                        <a:rPr lang="en-IN" sz="1300">
                          <a:solidFill>
                            <a:srgbClr val="1B1C1D"/>
                          </a:solidFill>
                          <a:effectLst/>
                          <a:latin typeface="Google Sans Text"/>
                        </a:rPr>
                        <a:t> (documents, databases, etc.).</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US" sz="1300">
                          <a:solidFill>
                            <a:srgbClr val="1B1C1D"/>
                          </a:solidFill>
                          <a:effectLst/>
                          <a:latin typeface="Google Sans Text"/>
                        </a:rPr>
                        <a:t>Internal + External </a:t>
                      </a:r>
                      <a:r>
                        <a:rPr lang="en-US" sz="1300" b="1">
                          <a:solidFill>
                            <a:srgbClr val="1B1C1D"/>
                          </a:solidFill>
                          <a:effectLst/>
                          <a:latin typeface="Google Sans Text"/>
                        </a:rPr>
                        <a:t>+ Real-time Tools/APIs</a:t>
                      </a:r>
                      <a:r>
                        <a:rPr lang="en-US" sz="1300">
                          <a:solidFill>
                            <a:srgbClr val="1B1C1D"/>
                          </a:solidFill>
                          <a:effectLst/>
                          <a:latin typeface="Google Sans Text"/>
                        </a:rPr>
                        <a:t>.</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extLst>
                  <a:ext uri="{0D108BD9-81ED-4DB2-BD59-A6C34878D82A}">
                    <a16:rowId xmlns:a16="http://schemas.microsoft.com/office/drawing/2014/main" val="2422418530"/>
                  </a:ext>
                </a:extLst>
              </a:tr>
              <a:tr h="784362">
                <a:tc>
                  <a:txBody>
                    <a:bodyPr/>
                    <a:lstStyle/>
                    <a:p>
                      <a:pPr rtl="0">
                        <a:buNone/>
                      </a:pPr>
                      <a:r>
                        <a:rPr lang="en-IN" sz="1300" b="1">
                          <a:solidFill>
                            <a:srgbClr val="1B1C1D"/>
                          </a:solidFill>
                          <a:effectLst/>
                          <a:latin typeface="Google Sans Text"/>
                        </a:rPr>
                        <a:t>Action &amp; Autonomy</a:t>
                      </a:r>
                      <a:endParaRPr lang="en-IN" sz="1300">
                        <a:solidFill>
                          <a:srgbClr val="1B1C1D"/>
                        </a:solidFill>
                        <a:effectLst/>
                        <a:latin typeface="Google Sans Text"/>
                      </a:endParaRP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IN" sz="1300" b="1">
                          <a:solidFill>
                            <a:srgbClr val="1B1C1D"/>
                          </a:solidFill>
                          <a:effectLst/>
                          <a:latin typeface="Google Sans Text"/>
                        </a:rPr>
                        <a:t>Minimal</a:t>
                      </a:r>
                      <a:r>
                        <a:rPr lang="en-IN" sz="1300">
                          <a:solidFill>
                            <a:srgbClr val="1B1C1D"/>
                          </a:solidFill>
                          <a:effectLst/>
                          <a:latin typeface="Google Sans Text"/>
                        </a:rPr>
                        <a:t> (Generate text only).</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US" sz="1300" b="1">
                          <a:solidFill>
                            <a:srgbClr val="1B1C1D"/>
                          </a:solidFill>
                          <a:effectLst/>
                          <a:latin typeface="Google Sans Text"/>
                        </a:rPr>
                        <a:t>Passive</a:t>
                      </a:r>
                      <a:r>
                        <a:rPr lang="en-US" sz="1300">
                          <a:solidFill>
                            <a:srgbClr val="1B1C1D"/>
                          </a:solidFill>
                          <a:effectLst/>
                          <a:latin typeface="Google Sans Text"/>
                        </a:rPr>
                        <a:t> (Retrieves data, still needs a prompt/user).</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US" sz="1300" b="1">
                          <a:solidFill>
                            <a:srgbClr val="1B1C1D"/>
                          </a:solidFill>
                          <a:effectLst/>
                          <a:latin typeface="Google Sans Text"/>
                        </a:rPr>
                        <a:t>High</a:t>
                      </a:r>
                      <a:r>
                        <a:rPr lang="en-US" sz="1300">
                          <a:solidFill>
                            <a:srgbClr val="1B1C1D"/>
                          </a:solidFill>
                          <a:effectLst/>
                          <a:latin typeface="Google Sans Text"/>
                        </a:rPr>
                        <a:t> (Reasons, plans, executes multi-step tasks).</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extLst>
                  <a:ext uri="{0D108BD9-81ED-4DB2-BD59-A6C34878D82A}">
                    <a16:rowId xmlns:a16="http://schemas.microsoft.com/office/drawing/2014/main" val="2034726195"/>
                  </a:ext>
                </a:extLst>
              </a:tr>
              <a:tr h="784362">
                <a:tc>
                  <a:txBody>
                    <a:bodyPr/>
                    <a:lstStyle/>
                    <a:p>
                      <a:pPr rtl="0">
                        <a:buNone/>
                      </a:pPr>
                      <a:r>
                        <a:rPr lang="en-IN" sz="1300" b="1">
                          <a:solidFill>
                            <a:srgbClr val="1B1C1D"/>
                          </a:solidFill>
                          <a:effectLst/>
                          <a:latin typeface="Google Sans Text"/>
                        </a:rPr>
                        <a:t>Primary Goal</a:t>
                      </a:r>
                      <a:endParaRPr lang="en-IN" sz="1300">
                        <a:solidFill>
                          <a:srgbClr val="1B1C1D"/>
                        </a:solidFill>
                        <a:effectLst/>
                        <a:latin typeface="Google Sans Text"/>
                      </a:endParaRP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US" sz="1300">
                          <a:solidFill>
                            <a:srgbClr val="1B1C1D"/>
                          </a:solidFill>
                          <a:effectLst/>
                          <a:latin typeface="Google Sans Text"/>
                        </a:rPr>
                        <a:t>Answer, complete, or create text.</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US" sz="1300">
                          <a:solidFill>
                            <a:srgbClr val="1B1C1D"/>
                          </a:solidFill>
                          <a:effectLst/>
                          <a:latin typeface="Google Sans Text"/>
                        </a:rPr>
                        <a:t>Provide grounded, up-to-date, and cited answers.</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US" sz="1300">
                          <a:solidFill>
                            <a:srgbClr val="1B1C1D"/>
                          </a:solidFill>
                          <a:effectLst/>
                          <a:latin typeface="Google Sans Text"/>
                        </a:rPr>
                        <a:t>Achieve a complex, defined objective.</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extLst>
                  <a:ext uri="{0D108BD9-81ED-4DB2-BD59-A6C34878D82A}">
                    <a16:rowId xmlns:a16="http://schemas.microsoft.com/office/drawing/2014/main" val="2835747593"/>
                  </a:ext>
                </a:extLst>
              </a:tr>
              <a:tr h="1013106">
                <a:tc>
                  <a:txBody>
                    <a:bodyPr/>
                    <a:lstStyle/>
                    <a:p>
                      <a:pPr rtl="0">
                        <a:buNone/>
                      </a:pPr>
                      <a:r>
                        <a:rPr lang="en-IN" sz="1300" b="1">
                          <a:solidFill>
                            <a:srgbClr val="1B1C1D"/>
                          </a:solidFill>
                          <a:effectLst/>
                          <a:latin typeface="Google Sans Text"/>
                        </a:rPr>
                        <a:t>Relationship</a:t>
                      </a:r>
                      <a:endParaRPr lang="en-IN" sz="1300">
                        <a:solidFill>
                          <a:srgbClr val="1B1C1D"/>
                        </a:solidFill>
                        <a:effectLst/>
                        <a:latin typeface="Google Sans Text"/>
                      </a:endParaRP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US" sz="1300">
                          <a:solidFill>
                            <a:srgbClr val="1B1C1D"/>
                          </a:solidFill>
                          <a:effectLst/>
                          <a:latin typeface="Google Sans Text"/>
                        </a:rPr>
                        <a:t>The </a:t>
                      </a:r>
                      <a:r>
                        <a:rPr lang="en-US" sz="1300" b="1">
                          <a:solidFill>
                            <a:srgbClr val="1B1C1D"/>
                          </a:solidFill>
                          <a:effectLst/>
                          <a:latin typeface="Google Sans Text"/>
                        </a:rPr>
                        <a:t>foundation</a:t>
                      </a:r>
                      <a:r>
                        <a:rPr lang="en-US" sz="1300">
                          <a:solidFill>
                            <a:srgbClr val="1B1C1D"/>
                          </a:solidFill>
                          <a:effectLst/>
                          <a:latin typeface="Google Sans Text"/>
                        </a:rPr>
                        <a:t> of the other two.</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US" sz="1300">
                          <a:solidFill>
                            <a:srgbClr val="1B1C1D"/>
                          </a:solidFill>
                          <a:effectLst/>
                          <a:latin typeface="Google Sans Text"/>
                        </a:rPr>
                        <a:t>An </a:t>
                      </a:r>
                      <a:r>
                        <a:rPr lang="en-US" sz="1300" b="1">
                          <a:solidFill>
                            <a:srgbClr val="1B1C1D"/>
                          </a:solidFill>
                          <a:effectLst/>
                          <a:latin typeface="Google Sans Text"/>
                        </a:rPr>
                        <a:t>enhancement</a:t>
                      </a:r>
                      <a:r>
                        <a:rPr lang="en-US" sz="1300">
                          <a:solidFill>
                            <a:srgbClr val="1B1C1D"/>
                          </a:solidFill>
                          <a:effectLst/>
                          <a:latin typeface="Google Sans Text"/>
                        </a:rPr>
                        <a:t> for the LLM.</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tc>
                  <a:txBody>
                    <a:bodyPr/>
                    <a:lstStyle/>
                    <a:p>
                      <a:pPr rtl="0">
                        <a:buNone/>
                      </a:pPr>
                      <a:r>
                        <a:rPr lang="en-US" sz="1300" dirty="0">
                          <a:solidFill>
                            <a:srgbClr val="1B1C1D"/>
                          </a:solidFill>
                          <a:effectLst/>
                          <a:latin typeface="Google Sans Text"/>
                        </a:rPr>
                        <a:t>An </a:t>
                      </a:r>
                      <a:r>
                        <a:rPr lang="en-US" sz="1300" b="1" dirty="0">
                          <a:solidFill>
                            <a:srgbClr val="1B1C1D"/>
                          </a:solidFill>
                          <a:effectLst/>
                          <a:latin typeface="Google Sans Text"/>
                        </a:rPr>
                        <a:t>orchestrator</a:t>
                      </a:r>
                      <a:r>
                        <a:rPr lang="en-US" sz="1300" dirty="0">
                          <a:solidFill>
                            <a:srgbClr val="1B1C1D"/>
                          </a:solidFill>
                          <a:effectLst/>
                          <a:latin typeface="Google Sans Text"/>
                        </a:rPr>
                        <a:t> that often uses LLM and RAG as tools.</a:t>
                      </a:r>
                    </a:p>
                  </a:txBody>
                  <a:tcPr marL="63746" marR="63746" marT="42497" marB="424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92D050"/>
                    </a:solidFill>
                  </a:tcPr>
                </a:tc>
                <a:extLst>
                  <a:ext uri="{0D108BD9-81ED-4DB2-BD59-A6C34878D82A}">
                    <a16:rowId xmlns:a16="http://schemas.microsoft.com/office/drawing/2014/main" val="66085533"/>
                  </a:ext>
                </a:extLst>
              </a:tr>
            </a:tbl>
          </a:graphicData>
        </a:graphic>
      </p:graphicFrame>
    </p:spTree>
    <p:extLst>
      <p:ext uri="{BB962C8B-B14F-4D97-AF65-F5344CB8AC3E}">
        <p14:creationId xmlns:p14="http://schemas.microsoft.com/office/powerpoint/2010/main" val="3286600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Building Blocks of AI Agents</a:t>
            </a:r>
          </a:p>
        </p:txBody>
      </p:sp>
      <p:sp>
        <p:nvSpPr>
          <p:cNvPr id="3" name="Content Placeholder 2"/>
          <p:cNvSpPr>
            <a:spLocks noGrp="1"/>
          </p:cNvSpPr>
          <p:nvPr>
            <p:ph idx="1"/>
          </p:nvPr>
        </p:nvSpPr>
        <p:spPr/>
        <p:txBody>
          <a:bodyPr>
            <a:normAutofit fontScale="92500" lnSpcReduction="20000"/>
          </a:bodyPr>
          <a:lstStyle/>
          <a:p>
            <a:r>
              <a:rPr dirty="0"/>
              <a:t> Role-playing: Define clear roles (e.g., </a:t>
            </a:r>
            <a:r>
              <a:rPr lang="en-IN" dirty="0"/>
              <a:t>Product Manager</a:t>
            </a:r>
            <a:r>
              <a:rPr dirty="0"/>
              <a:t>, </a:t>
            </a:r>
            <a:r>
              <a:rPr lang="en-IN" dirty="0"/>
              <a:t>Data Analyst, Auditor)</a:t>
            </a:r>
            <a:r>
              <a:rPr dirty="0"/>
              <a:t>.</a:t>
            </a:r>
          </a:p>
          <a:p>
            <a:r>
              <a:rPr dirty="0"/>
              <a:t> Focus/Tasks: Keep scope narrow to reduce hallucinations.</a:t>
            </a:r>
          </a:p>
          <a:p>
            <a:r>
              <a:rPr dirty="0"/>
              <a:t>Tools: Use APIs, databases, code execution when needed.</a:t>
            </a:r>
          </a:p>
          <a:p>
            <a:r>
              <a:rPr dirty="0"/>
              <a:t>Cooperation: Multi-agent collaboration improves accuracy.</a:t>
            </a:r>
          </a:p>
          <a:p>
            <a:r>
              <a:rPr dirty="0"/>
              <a:t>Memory: Short-term, long-term, entity-based memory.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602672-C341-12D8-686E-84293B1A40F2}"/>
              </a:ext>
            </a:extLst>
          </p:cNvPr>
          <p:cNvPicPr>
            <a:picLocks noChangeAspect="1"/>
          </p:cNvPicPr>
          <p:nvPr/>
        </p:nvPicPr>
        <p:blipFill>
          <a:blip r:embed="rId2"/>
          <a:stretch>
            <a:fillRect/>
          </a:stretch>
        </p:blipFill>
        <p:spPr>
          <a:xfrm>
            <a:off x="911667" y="1108291"/>
            <a:ext cx="6525536" cy="1838582"/>
          </a:xfrm>
          <a:prstGeom prst="rect">
            <a:avLst/>
          </a:prstGeom>
        </p:spPr>
      </p:pic>
      <p:pic>
        <p:nvPicPr>
          <p:cNvPr id="5" name="Picture 4">
            <a:extLst>
              <a:ext uri="{FF2B5EF4-FFF2-40B4-BE49-F238E27FC236}">
                <a16:creationId xmlns:a16="http://schemas.microsoft.com/office/drawing/2014/main" id="{A8C01500-BB1B-4188-B92A-6A4438EE28FB}"/>
              </a:ext>
            </a:extLst>
          </p:cNvPr>
          <p:cNvPicPr>
            <a:picLocks noChangeAspect="1"/>
          </p:cNvPicPr>
          <p:nvPr/>
        </p:nvPicPr>
        <p:blipFill>
          <a:blip r:embed="rId3"/>
          <a:stretch>
            <a:fillRect/>
          </a:stretch>
        </p:blipFill>
        <p:spPr>
          <a:xfrm>
            <a:off x="3078048" y="3428999"/>
            <a:ext cx="5591955" cy="2857899"/>
          </a:xfrm>
          <a:prstGeom prst="rect">
            <a:avLst/>
          </a:prstGeom>
        </p:spPr>
      </p:pic>
    </p:spTree>
    <p:extLst>
      <p:ext uri="{BB962C8B-B14F-4D97-AF65-F5344CB8AC3E}">
        <p14:creationId xmlns:p14="http://schemas.microsoft.com/office/powerpoint/2010/main" val="3309958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2243BF-AA3F-03BF-5D81-4D52F10420CB}"/>
              </a:ext>
            </a:extLst>
          </p:cNvPr>
          <p:cNvPicPr>
            <a:picLocks noChangeAspect="1"/>
          </p:cNvPicPr>
          <p:nvPr/>
        </p:nvPicPr>
        <p:blipFill>
          <a:blip r:embed="rId2"/>
          <a:stretch>
            <a:fillRect/>
          </a:stretch>
        </p:blipFill>
        <p:spPr>
          <a:xfrm>
            <a:off x="1327268" y="743719"/>
            <a:ext cx="7064877" cy="4345116"/>
          </a:xfrm>
          <a:prstGeom prst="rect">
            <a:avLst/>
          </a:prstGeom>
        </p:spPr>
      </p:pic>
    </p:spTree>
    <p:extLst>
      <p:ext uri="{BB962C8B-B14F-4D97-AF65-F5344CB8AC3E}">
        <p14:creationId xmlns:p14="http://schemas.microsoft.com/office/powerpoint/2010/main" val="1789516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1B70DF-053B-5DB9-3304-AC4C7AB3E25B}"/>
              </a:ext>
            </a:extLst>
          </p:cNvPr>
          <p:cNvPicPr>
            <a:picLocks noChangeAspect="1"/>
          </p:cNvPicPr>
          <p:nvPr/>
        </p:nvPicPr>
        <p:blipFill>
          <a:blip r:embed="rId2"/>
          <a:stretch>
            <a:fillRect/>
          </a:stretch>
        </p:blipFill>
        <p:spPr>
          <a:xfrm>
            <a:off x="1119785" y="1161797"/>
            <a:ext cx="7161396" cy="4135760"/>
          </a:xfrm>
          <a:prstGeom prst="rect">
            <a:avLst/>
          </a:prstGeom>
        </p:spPr>
      </p:pic>
    </p:spTree>
    <p:extLst>
      <p:ext uri="{BB962C8B-B14F-4D97-AF65-F5344CB8AC3E}">
        <p14:creationId xmlns:p14="http://schemas.microsoft.com/office/powerpoint/2010/main" val="1435345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Agentic AI Design Patterns</a:t>
            </a:r>
          </a:p>
        </p:txBody>
      </p:sp>
      <p:sp>
        <p:nvSpPr>
          <p:cNvPr id="3" name="Content Placeholder 2"/>
          <p:cNvSpPr>
            <a:spLocks noGrp="1"/>
          </p:cNvSpPr>
          <p:nvPr>
            <p:ph idx="1"/>
          </p:nvPr>
        </p:nvSpPr>
        <p:spPr/>
        <p:txBody>
          <a:bodyPr>
            <a:normAutofit/>
          </a:bodyPr>
          <a:lstStyle/>
          <a:p>
            <a:r>
              <a:rPr dirty="0"/>
              <a:t>Reflection: Self-evaluate outputs.</a:t>
            </a:r>
          </a:p>
          <a:p>
            <a:r>
              <a:rPr dirty="0"/>
              <a:t> Tool Use: Gather extra info via APIs, scripts, </a:t>
            </a:r>
            <a:r>
              <a:rPr dirty="0" err="1"/>
              <a:t>DBs.</a:t>
            </a:r>
            <a:endParaRPr dirty="0"/>
          </a:p>
          <a:p>
            <a:r>
              <a:rPr dirty="0" err="1"/>
              <a:t>ReAct</a:t>
            </a:r>
            <a:r>
              <a:rPr dirty="0"/>
              <a:t>: Loop of Thought → Action → Observation.</a:t>
            </a:r>
          </a:p>
          <a:p>
            <a:r>
              <a:rPr dirty="0"/>
              <a:t>Planning: Break tasks into roadmap &amp; objectives.</a:t>
            </a:r>
          </a:p>
          <a:p>
            <a:r>
              <a:rPr dirty="0"/>
              <a:t>Multi-Agent: Specialized agents collaborating.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690E3C-8945-ACE9-822F-AD8B30872540}"/>
              </a:ext>
            </a:extLst>
          </p:cNvPr>
          <p:cNvPicPr>
            <a:picLocks noChangeAspect="1"/>
          </p:cNvPicPr>
          <p:nvPr/>
        </p:nvPicPr>
        <p:blipFill>
          <a:blip r:embed="rId2"/>
          <a:stretch>
            <a:fillRect/>
          </a:stretch>
        </p:blipFill>
        <p:spPr>
          <a:xfrm>
            <a:off x="798933" y="844919"/>
            <a:ext cx="7546134" cy="4989351"/>
          </a:xfrm>
          <a:prstGeom prst="rect">
            <a:avLst/>
          </a:prstGeom>
        </p:spPr>
      </p:pic>
    </p:spTree>
    <p:extLst>
      <p:ext uri="{BB962C8B-B14F-4D97-AF65-F5344CB8AC3E}">
        <p14:creationId xmlns:p14="http://schemas.microsoft.com/office/powerpoint/2010/main" val="860620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DD10-83D2-6EC6-3794-FC9444E74EA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0837CF-8280-8117-5FD2-A0A222F1555B}"/>
              </a:ext>
            </a:extLst>
          </p:cNvPr>
          <p:cNvPicPr>
            <a:picLocks noChangeAspect="1"/>
          </p:cNvPicPr>
          <p:nvPr/>
        </p:nvPicPr>
        <p:blipFill>
          <a:blip r:embed="rId2"/>
          <a:stretch>
            <a:fillRect/>
          </a:stretch>
        </p:blipFill>
        <p:spPr>
          <a:xfrm>
            <a:off x="800571" y="831741"/>
            <a:ext cx="7542857" cy="4992589"/>
          </a:xfrm>
          <a:prstGeom prst="rect">
            <a:avLst/>
          </a:prstGeom>
        </p:spPr>
      </p:pic>
    </p:spTree>
    <p:extLst>
      <p:ext uri="{BB962C8B-B14F-4D97-AF65-F5344CB8AC3E}">
        <p14:creationId xmlns:p14="http://schemas.microsoft.com/office/powerpoint/2010/main" val="1690659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A204C-2C94-B253-7F60-2BFD76C3AA9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2ADF962-EB87-3986-AD41-A52F0782767E}"/>
              </a:ext>
            </a:extLst>
          </p:cNvPr>
          <p:cNvPicPr>
            <a:picLocks noChangeAspect="1"/>
          </p:cNvPicPr>
          <p:nvPr/>
        </p:nvPicPr>
        <p:blipFill>
          <a:blip r:embed="rId2"/>
          <a:stretch>
            <a:fillRect/>
          </a:stretch>
        </p:blipFill>
        <p:spPr>
          <a:xfrm>
            <a:off x="785192" y="484875"/>
            <a:ext cx="7211524" cy="5606734"/>
          </a:xfrm>
          <a:prstGeom prst="rect">
            <a:avLst/>
          </a:prstGeom>
        </p:spPr>
      </p:pic>
    </p:spTree>
    <p:extLst>
      <p:ext uri="{BB962C8B-B14F-4D97-AF65-F5344CB8AC3E}">
        <p14:creationId xmlns:p14="http://schemas.microsoft.com/office/powerpoint/2010/main" val="3619459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46C7B-FCDB-3FC8-529B-13FD334BCAF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7276D5B-7BDA-79E1-B7CB-FA35E7B040CD}"/>
              </a:ext>
            </a:extLst>
          </p:cNvPr>
          <p:cNvPicPr>
            <a:picLocks noChangeAspect="1"/>
          </p:cNvPicPr>
          <p:nvPr/>
        </p:nvPicPr>
        <p:blipFill>
          <a:blip r:embed="rId2"/>
          <a:stretch>
            <a:fillRect/>
          </a:stretch>
        </p:blipFill>
        <p:spPr>
          <a:xfrm>
            <a:off x="1204442" y="852128"/>
            <a:ext cx="6735115" cy="5153744"/>
          </a:xfrm>
          <a:prstGeom prst="rect">
            <a:avLst/>
          </a:prstGeom>
        </p:spPr>
      </p:pic>
    </p:spTree>
    <p:extLst>
      <p:ext uri="{BB962C8B-B14F-4D97-AF65-F5344CB8AC3E}">
        <p14:creationId xmlns:p14="http://schemas.microsoft.com/office/powerpoint/2010/main" val="321147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013B6-CD3B-3B37-C6AF-6FA1FF5C2B5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8DFC148-4B0F-4D7A-BC85-01D46AF9D02F}"/>
              </a:ext>
            </a:extLst>
          </p:cNvPr>
          <p:cNvPicPr>
            <a:picLocks noChangeAspect="1"/>
          </p:cNvPicPr>
          <p:nvPr/>
        </p:nvPicPr>
        <p:blipFill>
          <a:blip r:embed="rId2"/>
          <a:stretch>
            <a:fillRect/>
          </a:stretch>
        </p:blipFill>
        <p:spPr>
          <a:xfrm>
            <a:off x="813863" y="933101"/>
            <a:ext cx="7516274" cy="4991797"/>
          </a:xfrm>
          <a:prstGeom prst="rect">
            <a:avLst/>
          </a:prstGeom>
        </p:spPr>
      </p:pic>
    </p:spTree>
    <p:extLst>
      <p:ext uri="{BB962C8B-B14F-4D97-AF65-F5344CB8AC3E}">
        <p14:creationId xmlns:p14="http://schemas.microsoft.com/office/powerpoint/2010/main" val="4123615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Levels of Agentic AI Systems</a:t>
            </a:r>
          </a:p>
        </p:txBody>
      </p:sp>
      <p:sp>
        <p:nvSpPr>
          <p:cNvPr id="3" name="Content Placeholder 2"/>
          <p:cNvSpPr>
            <a:spLocks noGrp="1"/>
          </p:cNvSpPr>
          <p:nvPr>
            <p:ph idx="1"/>
          </p:nvPr>
        </p:nvSpPr>
        <p:spPr/>
        <p:txBody>
          <a:bodyPr/>
          <a:lstStyle/>
          <a:p>
            <a:r>
              <a:rPr dirty="0"/>
              <a:t> Basic responder: LLM answers directly.</a:t>
            </a:r>
          </a:p>
          <a:p>
            <a:r>
              <a:rPr dirty="0"/>
              <a:t> Router: Directs to predefined functions.</a:t>
            </a:r>
          </a:p>
          <a:p>
            <a:r>
              <a:rPr dirty="0"/>
              <a:t> Tool calling: Chooses and uses external tools.</a:t>
            </a:r>
          </a:p>
          <a:p>
            <a:r>
              <a:rPr dirty="0"/>
              <a:t> Multi-agent: Manager agent orchestrates sub-agents.</a:t>
            </a:r>
          </a:p>
          <a:p>
            <a:r>
              <a:rPr dirty="0"/>
              <a:t> Autonomous: Fully independent AI developer.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E800D9-4656-20F6-65A5-BF74FE2A4F21}"/>
              </a:ext>
            </a:extLst>
          </p:cNvPr>
          <p:cNvPicPr>
            <a:picLocks noChangeAspect="1"/>
          </p:cNvPicPr>
          <p:nvPr/>
        </p:nvPicPr>
        <p:blipFill>
          <a:blip r:embed="rId2"/>
          <a:stretch>
            <a:fillRect/>
          </a:stretch>
        </p:blipFill>
        <p:spPr>
          <a:xfrm>
            <a:off x="776457" y="685800"/>
            <a:ext cx="7810192" cy="4797997"/>
          </a:xfrm>
          <a:prstGeom prst="rect">
            <a:avLst/>
          </a:prstGeom>
        </p:spPr>
      </p:pic>
    </p:spTree>
    <p:extLst>
      <p:ext uri="{BB962C8B-B14F-4D97-AF65-F5344CB8AC3E}">
        <p14:creationId xmlns:p14="http://schemas.microsoft.com/office/powerpoint/2010/main" val="3463102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304EC0-CD34-BEC7-514F-2A7F385032DA}"/>
              </a:ext>
            </a:extLst>
          </p:cNvPr>
          <p:cNvPicPr>
            <a:picLocks noChangeAspect="1"/>
          </p:cNvPicPr>
          <p:nvPr/>
        </p:nvPicPr>
        <p:blipFill>
          <a:blip r:embed="rId2"/>
          <a:stretch>
            <a:fillRect/>
          </a:stretch>
        </p:blipFill>
        <p:spPr>
          <a:xfrm>
            <a:off x="1113942" y="995023"/>
            <a:ext cx="6916115" cy="4867954"/>
          </a:xfrm>
          <a:prstGeom prst="rect">
            <a:avLst/>
          </a:prstGeom>
        </p:spPr>
      </p:pic>
    </p:spTree>
    <p:extLst>
      <p:ext uri="{BB962C8B-B14F-4D97-AF65-F5344CB8AC3E}">
        <p14:creationId xmlns:p14="http://schemas.microsoft.com/office/powerpoint/2010/main" val="1721019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4E417-A999-0435-FCE1-897177D6B09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EAFEF88-1183-5C88-3297-FF9224B284C2}"/>
              </a:ext>
            </a:extLst>
          </p:cNvPr>
          <p:cNvPicPr>
            <a:picLocks noChangeAspect="1"/>
          </p:cNvPicPr>
          <p:nvPr/>
        </p:nvPicPr>
        <p:blipFill>
          <a:blip r:embed="rId2"/>
          <a:stretch>
            <a:fillRect/>
          </a:stretch>
        </p:blipFill>
        <p:spPr>
          <a:xfrm>
            <a:off x="1142521" y="1195075"/>
            <a:ext cx="6858957" cy="4467849"/>
          </a:xfrm>
          <a:prstGeom prst="rect">
            <a:avLst/>
          </a:prstGeom>
        </p:spPr>
      </p:pic>
    </p:spTree>
    <p:extLst>
      <p:ext uri="{BB962C8B-B14F-4D97-AF65-F5344CB8AC3E}">
        <p14:creationId xmlns:p14="http://schemas.microsoft.com/office/powerpoint/2010/main" val="18524873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D8AF6-C5D9-B8EF-C2BE-73E868F4053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F618FF3-5B68-3132-6260-6AAA906F9523}"/>
              </a:ext>
            </a:extLst>
          </p:cNvPr>
          <p:cNvPicPr>
            <a:picLocks noChangeAspect="1"/>
          </p:cNvPicPr>
          <p:nvPr/>
        </p:nvPicPr>
        <p:blipFill>
          <a:blip r:embed="rId2"/>
          <a:stretch>
            <a:fillRect/>
          </a:stretch>
        </p:blipFill>
        <p:spPr>
          <a:xfrm>
            <a:off x="794810" y="1114102"/>
            <a:ext cx="7554379" cy="4629796"/>
          </a:xfrm>
          <a:prstGeom prst="rect">
            <a:avLst/>
          </a:prstGeom>
        </p:spPr>
      </p:pic>
    </p:spTree>
    <p:extLst>
      <p:ext uri="{BB962C8B-B14F-4D97-AF65-F5344CB8AC3E}">
        <p14:creationId xmlns:p14="http://schemas.microsoft.com/office/powerpoint/2010/main" val="961306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77DA0-01B7-E791-FCCA-CD5DA00FC55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276412F-D601-1679-C231-40561BA08668}"/>
              </a:ext>
            </a:extLst>
          </p:cNvPr>
          <p:cNvPicPr>
            <a:picLocks noChangeAspect="1"/>
          </p:cNvPicPr>
          <p:nvPr/>
        </p:nvPicPr>
        <p:blipFill>
          <a:blip r:embed="rId2"/>
          <a:stretch>
            <a:fillRect/>
          </a:stretch>
        </p:blipFill>
        <p:spPr>
          <a:xfrm>
            <a:off x="713836" y="1223654"/>
            <a:ext cx="7716327" cy="4410691"/>
          </a:xfrm>
          <a:prstGeom prst="rect">
            <a:avLst/>
          </a:prstGeom>
        </p:spPr>
      </p:pic>
    </p:spTree>
    <p:extLst>
      <p:ext uri="{BB962C8B-B14F-4D97-AF65-F5344CB8AC3E}">
        <p14:creationId xmlns:p14="http://schemas.microsoft.com/office/powerpoint/2010/main" val="2637167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19AA06-0DDB-C5BC-9882-54E19904D6FD}"/>
              </a:ext>
            </a:extLst>
          </p:cNvPr>
          <p:cNvPicPr>
            <a:picLocks noChangeAspect="1"/>
          </p:cNvPicPr>
          <p:nvPr/>
        </p:nvPicPr>
        <p:blipFill>
          <a:blip r:embed="rId2"/>
          <a:stretch>
            <a:fillRect/>
          </a:stretch>
        </p:blipFill>
        <p:spPr>
          <a:xfrm>
            <a:off x="489010" y="1898373"/>
            <a:ext cx="8165980" cy="2845453"/>
          </a:xfrm>
          <a:prstGeom prst="rect">
            <a:avLst/>
          </a:prstGeom>
        </p:spPr>
      </p:pic>
    </p:spTree>
    <p:extLst>
      <p:ext uri="{BB962C8B-B14F-4D97-AF65-F5344CB8AC3E}">
        <p14:creationId xmlns:p14="http://schemas.microsoft.com/office/powerpoint/2010/main" val="96767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F6AE1-86FF-39FF-0A32-5AE4B62B23D9}"/>
              </a:ext>
            </a:extLst>
          </p:cNvPr>
          <p:cNvSpPr>
            <a:spLocks noGrp="1"/>
          </p:cNvSpPr>
          <p:nvPr>
            <p:ph type="title"/>
          </p:nvPr>
        </p:nvSpPr>
        <p:spPr/>
        <p:txBody>
          <a:bodyPr/>
          <a:lstStyle/>
          <a:p>
            <a:r>
              <a:rPr lang="en-IN" dirty="0"/>
              <a:t>The Core: Agent</a:t>
            </a:r>
          </a:p>
        </p:txBody>
      </p:sp>
      <p:sp>
        <p:nvSpPr>
          <p:cNvPr id="3" name="Content Placeholder 2">
            <a:extLst>
              <a:ext uri="{FF2B5EF4-FFF2-40B4-BE49-F238E27FC236}">
                <a16:creationId xmlns:a16="http://schemas.microsoft.com/office/drawing/2014/main" id="{1571BFFE-B595-A3DF-D055-77A10641D239}"/>
              </a:ext>
            </a:extLst>
          </p:cNvPr>
          <p:cNvSpPr>
            <a:spLocks noGrp="1"/>
          </p:cNvSpPr>
          <p:nvPr>
            <p:ph idx="1"/>
          </p:nvPr>
        </p:nvSpPr>
        <p:spPr/>
        <p:txBody>
          <a:bodyPr/>
          <a:lstStyle/>
          <a:p>
            <a:pPr marL="0" indent="0">
              <a:buNone/>
            </a:pPr>
            <a:r>
              <a:rPr lang="en-US" dirty="0"/>
              <a:t>The </a:t>
            </a:r>
            <a:r>
              <a:rPr lang="en-US" b="1" dirty="0"/>
              <a:t>Agent</a:t>
            </a:r>
            <a:r>
              <a:rPr lang="en-US" dirty="0"/>
              <a:t> (highlighted in red) is the central processing unit. It receives input, interacts with all other components, and makes decisions about what to do next. Its primary function is to direct the flow of information and execution.</a:t>
            </a:r>
            <a:endParaRPr lang="en-IN" dirty="0"/>
          </a:p>
        </p:txBody>
      </p:sp>
    </p:spTree>
    <p:extLst>
      <p:ext uri="{BB962C8B-B14F-4D97-AF65-F5344CB8AC3E}">
        <p14:creationId xmlns:p14="http://schemas.microsoft.com/office/powerpoint/2010/main" val="3625497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2F313-86EC-47EC-79CC-F2239D222553}"/>
              </a:ext>
            </a:extLst>
          </p:cNvPr>
          <p:cNvSpPr>
            <a:spLocks noGrp="1"/>
          </p:cNvSpPr>
          <p:nvPr>
            <p:ph type="title"/>
          </p:nvPr>
        </p:nvSpPr>
        <p:spPr/>
        <p:txBody>
          <a:bodyPr/>
          <a:lstStyle/>
          <a:p>
            <a:r>
              <a:rPr lang="en-IN" dirty="0"/>
              <a:t>Memory</a:t>
            </a:r>
          </a:p>
        </p:txBody>
      </p:sp>
      <p:sp>
        <p:nvSpPr>
          <p:cNvPr id="3" name="Content Placeholder 2">
            <a:extLst>
              <a:ext uri="{FF2B5EF4-FFF2-40B4-BE49-F238E27FC236}">
                <a16:creationId xmlns:a16="http://schemas.microsoft.com/office/drawing/2014/main" id="{D36B7BC6-1366-B6D8-3B74-63BC5FC5B8B3}"/>
              </a:ext>
            </a:extLst>
          </p:cNvPr>
          <p:cNvSpPr>
            <a:spLocks noGrp="1"/>
          </p:cNvSpPr>
          <p:nvPr>
            <p:ph idx="1"/>
          </p:nvPr>
        </p:nvSpPr>
        <p:spPr/>
        <p:txBody>
          <a:bodyPr>
            <a:normAutofit lnSpcReduction="10000"/>
          </a:bodyPr>
          <a:lstStyle/>
          <a:p>
            <a:r>
              <a:rPr lang="en-US" dirty="0"/>
              <a:t>The agent relies on </a:t>
            </a:r>
            <a:r>
              <a:rPr lang="en-US" b="1" dirty="0"/>
              <a:t>Memory</a:t>
            </a:r>
            <a:r>
              <a:rPr lang="en-US" dirty="0"/>
              <a:t> to store and retrieve information:</a:t>
            </a:r>
          </a:p>
          <a:p>
            <a:r>
              <a:rPr lang="en-US" b="1" dirty="0"/>
              <a:t>Short-term memory:</a:t>
            </a:r>
            <a:r>
              <a:rPr lang="en-US" dirty="0"/>
              <a:t> This holds recent information and context for the current task, similar to human working memory.</a:t>
            </a:r>
          </a:p>
          <a:p>
            <a:r>
              <a:rPr lang="en-US" b="1" dirty="0"/>
              <a:t>Long-term memory:</a:t>
            </a:r>
            <a:r>
              <a:rPr lang="en-US" dirty="0"/>
              <a:t> This stores past experiences, knowledge, and learned information, essential for providing broader context and consistency over time.</a:t>
            </a:r>
          </a:p>
          <a:p>
            <a:endParaRPr lang="en-IN" dirty="0"/>
          </a:p>
        </p:txBody>
      </p:sp>
    </p:spTree>
    <p:extLst>
      <p:ext uri="{BB962C8B-B14F-4D97-AF65-F5344CB8AC3E}">
        <p14:creationId xmlns:p14="http://schemas.microsoft.com/office/powerpoint/2010/main" val="21741476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9D2EB-1D83-5A13-C509-8289CB6A3B74}"/>
              </a:ext>
            </a:extLst>
          </p:cNvPr>
          <p:cNvSpPr>
            <a:spLocks noGrp="1"/>
          </p:cNvSpPr>
          <p:nvPr>
            <p:ph type="title"/>
          </p:nvPr>
        </p:nvSpPr>
        <p:spPr/>
        <p:txBody>
          <a:bodyPr/>
          <a:lstStyle/>
          <a:p>
            <a:r>
              <a:rPr lang="en-IN" dirty="0"/>
              <a:t>Tools</a:t>
            </a:r>
          </a:p>
        </p:txBody>
      </p:sp>
      <p:sp>
        <p:nvSpPr>
          <p:cNvPr id="3" name="Content Placeholder 2">
            <a:extLst>
              <a:ext uri="{FF2B5EF4-FFF2-40B4-BE49-F238E27FC236}">
                <a16:creationId xmlns:a16="http://schemas.microsoft.com/office/drawing/2014/main" id="{6BA449A8-6E61-F4ED-CDA4-A9A77642F525}"/>
              </a:ext>
            </a:extLst>
          </p:cNvPr>
          <p:cNvSpPr>
            <a:spLocks noGrp="1"/>
          </p:cNvSpPr>
          <p:nvPr>
            <p:ph idx="1"/>
          </p:nvPr>
        </p:nvSpPr>
        <p:spPr/>
        <p:txBody>
          <a:bodyPr>
            <a:normAutofit fontScale="77500" lnSpcReduction="20000"/>
          </a:bodyPr>
          <a:lstStyle/>
          <a:p>
            <a:r>
              <a:rPr lang="en-US" b="1" dirty="0"/>
              <a:t>Tools</a:t>
            </a:r>
            <a:r>
              <a:rPr lang="en-US" dirty="0"/>
              <a:t> are external functions or resources the agent can invoke to perform specific tasks, extending its capabilities beyond its core reasoning:</a:t>
            </a:r>
          </a:p>
          <a:p>
            <a:r>
              <a:rPr lang="en-US" b="1" dirty="0"/>
              <a:t>Calendar( )</a:t>
            </a:r>
            <a:r>
              <a:rPr lang="en-US" dirty="0"/>
              <a:t>: For scheduling, date/time lookups, or managing events.</a:t>
            </a:r>
          </a:p>
          <a:p>
            <a:r>
              <a:rPr lang="en-US" b="1" dirty="0"/>
              <a:t>Calculator( )</a:t>
            </a:r>
            <a:r>
              <a:rPr lang="en-US" dirty="0"/>
              <a:t>: For performing mathematical operations.</a:t>
            </a:r>
          </a:p>
          <a:p>
            <a:r>
              <a:rPr lang="en-US" b="1" dirty="0" err="1"/>
              <a:t>CodeInterpreter</a:t>
            </a:r>
            <a:r>
              <a:rPr lang="en-US" b="1" dirty="0"/>
              <a:t>( )</a:t>
            </a:r>
            <a:r>
              <a:rPr lang="en-US" dirty="0"/>
              <a:t>: For writing, executing, or debugging code.</a:t>
            </a:r>
          </a:p>
          <a:p>
            <a:r>
              <a:rPr lang="en-US" b="1" dirty="0"/>
              <a:t>Search( )</a:t>
            </a:r>
            <a:r>
              <a:rPr lang="en-US" dirty="0"/>
              <a:t>: For looking up information on the internet or in a knowledge base.</a:t>
            </a:r>
          </a:p>
          <a:p>
            <a:r>
              <a:rPr lang="en-US" b="1" dirty="0"/>
              <a:t>...more</a:t>
            </a:r>
            <a:r>
              <a:rPr lang="en-US" dirty="0"/>
              <a:t>: Implies the system can be expanded with many other specialized tools (e.g., file I/O, database access, image generation).</a:t>
            </a:r>
          </a:p>
          <a:p>
            <a:endParaRPr lang="en-IN" dirty="0"/>
          </a:p>
        </p:txBody>
      </p:sp>
    </p:spTree>
    <p:extLst>
      <p:ext uri="{BB962C8B-B14F-4D97-AF65-F5344CB8AC3E}">
        <p14:creationId xmlns:p14="http://schemas.microsoft.com/office/powerpoint/2010/main" val="1176741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C4B77-0576-0130-089A-6B991AAFB233}"/>
              </a:ext>
            </a:extLst>
          </p:cNvPr>
          <p:cNvSpPr>
            <a:spLocks noGrp="1"/>
          </p:cNvSpPr>
          <p:nvPr>
            <p:ph type="title"/>
          </p:nvPr>
        </p:nvSpPr>
        <p:spPr/>
        <p:txBody>
          <a:bodyPr/>
          <a:lstStyle/>
          <a:p>
            <a:r>
              <a:rPr lang="en-IN" dirty="0"/>
              <a:t>Planning &amp; Reflection</a:t>
            </a:r>
          </a:p>
        </p:txBody>
      </p:sp>
      <p:sp>
        <p:nvSpPr>
          <p:cNvPr id="3" name="Content Placeholder 2">
            <a:extLst>
              <a:ext uri="{FF2B5EF4-FFF2-40B4-BE49-F238E27FC236}">
                <a16:creationId xmlns:a16="http://schemas.microsoft.com/office/drawing/2014/main" id="{F8E3C143-84B8-F9E8-D777-025A77EF8218}"/>
              </a:ext>
            </a:extLst>
          </p:cNvPr>
          <p:cNvSpPr>
            <a:spLocks noGrp="1"/>
          </p:cNvSpPr>
          <p:nvPr>
            <p:ph idx="1"/>
          </p:nvPr>
        </p:nvSpPr>
        <p:spPr/>
        <p:txBody>
          <a:bodyPr>
            <a:normAutofit fontScale="77500" lnSpcReduction="20000"/>
          </a:bodyPr>
          <a:lstStyle/>
          <a:p>
            <a:r>
              <a:rPr lang="en-US" dirty="0"/>
              <a:t>The </a:t>
            </a:r>
            <a:r>
              <a:rPr lang="en-US" b="1" dirty="0"/>
              <a:t>Planning</a:t>
            </a:r>
            <a:r>
              <a:rPr lang="en-US" dirty="0"/>
              <a:t> module is where the agent formulates its strategy and decision-making process. This module includes internal feedback loops:</a:t>
            </a:r>
          </a:p>
          <a:p>
            <a:r>
              <a:rPr lang="en-US" b="1" dirty="0"/>
              <a:t>Reflection:</a:t>
            </a:r>
            <a:r>
              <a:rPr lang="en-US" dirty="0"/>
              <a:t> The ability to look back at past actions or thought processes and assess their success or failure.</a:t>
            </a:r>
          </a:p>
          <a:p>
            <a:r>
              <a:rPr lang="en-US" b="1" dirty="0"/>
              <a:t>Self-critics:</a:t>
            </a:r>
            <a:r>
              <a:rPr lang="en-US" dirty="0"/>
              <a:t> A mechanism for evaluating the proposed plan or ongoing action for potential flaws or inefficiencies.</a:t>
            </a:r>
          </a:p>
          <a:p>
            <a:r>
              <a:rPr lang="en-US" b="1" dirty="0"/>
              <a:t>Chain of thoughts:</a:t>
            </a:r>
            <a:r>
              <a:rPr lang="en-US" dirty="0"/>
              <a:t> The structured, step-by-step reasoning process the agent uses to break down a complex problem.</a:t>
            </a:r>
          </a:p>
          <a:p>
            <a:r>
              <a:rPr lang="en-US" b="1" dirty="0"/>
              <a:t>Subgoal decomposition:</a:t>
            </a:r>
            <a:r>
              <a:rPr lang="en-US" dirty="0"/>
              <a:t> The process of breaking a large, complex task into smaller, manageable steps or sub-tasks.</a:t>
            </a:r>
          </a:p>
          <a:p>
            <a:endParaRPr lang="en-IN" dirty="0"/>
          </a:p>
        </p:txBody>
      </p:sp>
    </p:spTree>
    <p:extLst>
      <p:ext uri="{BB962C8B-B14F-4D97-AF65-F5344CB8AC3E}">
        <p14:creationId xmlns:p14="http://schemas.microsoft.com/office/powerpoint/2010/main" val="189519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0E30F-7BB9-D8DD-65E5-C5732D77A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FA352-52D1-5060-96C9-FCC35B1EF8D9}"/>
              </a:ext>
            </a:extLst>
          </p:cNvPr>
          <p:cNvSpPr>
            <a:spLocks noGrp="1"/>
          </p:cNvSpPr>
          <p:nvPr>
            <p:ph type="title"/>
          </p:nvPr>
        </p:nvSpPr>
        <p:spPr/>
        <p:txBody>
          <a:bodyPr/>
          <a:lstStyle/>
          <a:p>
            <a:r>
              <a:rPr lang="en-IN" dirty="0"/>
              <a:t>Action</a:t>
            </a:r>
          </a:p>
        </p:txBody>
      </p:sp>
      <p:sp>
        <p:nvSpPr>
          <p:cNvPr id="3" name="Content Placeholder 2">
            <a:extLst>
              <a:ext uri="{FF2B5EF4-FFF2-40B4-BE49-F238E27FC236}">
                <a16:creationId xmlns:a16="http://schemas.microsoft.com/office/drawing/2014/main" id="{E357E4A0-2594-8149-2F2E-E4417409FB58}"/>
              </a:ext>
            </a:extLst>
          </p:cNvPr>
          <p:cNvSpPr>
            <a:spLocks noGrp="1"/>
          </p:cNvSpPr>
          <p:nvPr>
            <p:ph idx="1"/>
          </p:nvPr>
        </p:nvSpPr>
        <p:spPr/>
        <p:txBody>
          <a:bodyPr/>
          <a:lstStyle/>
          <a:p>
            <a:r>
              <a:rPr lang="en-US" b="1" dirty="0"/>
              <a:t>Action</a:t>
            </a:r>
            <a:r>
              <a:rPr lang="en-US" dirty="0"/>
              <a:t> is the ultimate output of the agent's process. It represents the execution of the final decision, which could be:</a:t>
            </a:r>
          </a:p>
          <a:p>
            <a:r>
              <a:rPr lang="en-US" dirty="0"/>
              <a:t>Generating a response (text).</a:t>
            </a:r>
          </a:p>
          <a:p>
            <a:r>
              <a:rPr lang="en-US" dirty="0"/>
              <a:t>Calling a </a:t>
            </a:r>
            <a:r>
              <a:rPr lang="en-US" b="1" dirty="0"/>
              <a:t>Tool</a:t>
            </a:r>
            <a:r>
              <a:rPr lang="en-US" dirty="0"/>
              <a:t> (e.g., searching the web).</a:t>
            </a:r>
          </a:p>
          <a:p>
            <a:r>
              <a:rPr lang="en-US" dirty="0"/>
              <a:t>Updating </a:t>
            </a:r>
            <a:r>
              <a:rPr lang="en-US" b="1" dirty="0"/>
              <a:t>Memory</a:t>
            </a:r>
            <a:r>
              <a:rPr lang="en-US" dirty="0"/>
              <a:t>.</a:t>
            </a:r>
          </a:p>
          <a:p>
            <a:r>
              <a:rPr lang="en-US" dirty="0"/>
              <a:t>Initiating a new </a:t>
            </a:r>
            <a:r>
              <a:rPr lang="en-US" b="1" dirty="0"/>
              <a:t>Planning</a:t>
            </a:r>
            <a:r>
              <a:rPr lang="en-US" dirty="0"/>
              <a:t> cycle.</a:t>
            </a:r>
          </a:p>
          <a:p>
            <a:endParaRPr lang="en-IN" dirty="0"/>
          </a:p>
        </p:txBody>
      </p:sp>
    </p:spTree>
    <p:extLst>
      <p:ext uri="{BB962C8B-B14F-4D97-AF65-F5344CB8AC3E}">
        <p14:creationId xmlns:p14="http://schemas.microsoft.com/office/powerpoint/2010/main" val="2063543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74DB0-9605-6DFF-0ECE-8715CD3BB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0EE94-6152-65DF-0352-252A095E875D}"/>
              </a:ext>
            </a:extLst>
          </p:cNvPr>
          <p:cNvSpPr>
            <a:spLocks noGrp="1"/>
          </p:cNvSpPr>
          <p:nvPr>
            <p:ph type="title"/>
          </p:nvPr>
        </p:nvSpPr>
        <p:spPr/>
        <p:txBody>
          <a:bodyPr/>
          <a:lstStyle/>
          <a:p>
            <a:r>
              <a:rPr lang="en-IN" dirty="0"/>
              <a:t>Flow of Operation</a:t>
            </a:r>
          </a:p>
        </p:txBody>
      </p:sp>
      <p:sp>
        <p:nvSpPr>
          <p:cNvPr id="3" name="Content Placeholder 2">
            <a:extLst>
              <a:ext uri="{FF2B5EF4-FFF2-40B4-BE49-F238E27FC236}">
                <a16:creationId xmlns:a16="http://schemas.microsoft.com/office/drawing/2014/main" id="{F322D202-818F-C3B0-79EC-8E89D804A93E}"/>
              </a:ext>
            </a:extLst>
          </p:cNvPr>
          <p:cNvSpPr>
            <a:spLocks noGrp="1"/>
          </p:cNvSpPr>
          <p:nvPr>
            <p:ph idx="1"/>
          </p:nvPr>
        </p:nvSpPr>
        <p:spPr>
          <a:xfrm>
            <a:off x="457200" y="1321904"/>
            <a:ext cx="8229600" cy="4804259"/>
          </a:xfrm>
        </p:spPr>
        <p:txBody>
          <a:bodyPr>
            <a:normAutofit fontScale="85000" lnSpcReduction="20000"/>
          </a:bodyPr>
          <a:lstStyle/>
          <a:p>
            <a:r>
              <a:rPr lang="en-US" dirty="0"/>
              <a:t>The diagram suggests a continuous cycle:</a:t>
            </a:r>
          </a:p>
          <a:p>
            <a:r>
              <a:rPr lang="en-US" dirty="0"/>
              <a:t>The </a:t>
            </a:r>
            <a:r>
              <a:rPr lang="en-US" b="1" dirty="0"/>
              <a:t>Agent</a:t>
            </a:r>
            <a:r>
              <a:rPr lang="en-US" dirty="0"/>
              <a:t> uses </a:t>
            </a:r>
            <a:r>
              <a:rPr lang="en-US" b="1" dirty="0"/>
              <a:t>Planning</a:t>
            </a:r>
            <a:r>
              <a:rPr lang="en-US" dirty="0"/>
              <a:t> and its internal mechanisms (Reflection, Subgoals) to decide what to do.</a:t>
            </a:r>
          </a:p>
          <a:p>
            <a:r>
              <a:rPr lang="en-US" dirty="0"/>
              <a:t>It can choose to interact with </a:t>
            </a:r>
            <a:r>
              <a:rPr lang="en-US" b="1" dirty="0"/>
              <a:t>Memory</a:t>
            </a:r>
            <a:r>
              <a:rPr lang="en-US" dirty="0"/>
              <a:t> for context or to store new information.</a:t>
            </a:r>
          </a:p>
          <a:p>
            <a:r>
              <a:rPr lang="en-US" dirty="0"/>
              <a:t>The plan leads to an </a:t>
            </a:r>
            <a:r>
              <a:rPr lang="en-US" b="1" dirty="0"/>
              <a:t>Action</a:t>
            </a:r>
            <a:r>
              <a:rPr lang="en-US" dirty="0"/>
              <a:t>.</a:t>
            </a:r>
          </a:p>
          <a:p>
            <a:r>
              <a:rPr lang="en-US" dirty="0"/>
              <a:t>The </a:t>
            </a:r>
            <a:r>
              <a:rPr lang="en-US" b="1" dirty="0"/>
              <a:t>Action</a:t>
            </a:r>
            <a:r>
              <a:rPr lang="en-US" dirty="0"/>
              <a:t> might involve calling a </a:t>
            </a:r>
            <a:r>
              <a:rPr lang="en-US" b="1" dirty="0"/>
              <a:t>Tool</a:t>
            </a:r>
            <a:r>
              <a:rPr lang="en-US" dirty="0"/>
              <a:t> (like Search or Calculator) to get external data or perform a computation.</a:t>
            </a:r>
          </a:p>
          <a:p>
            <a:r>
              <a:rPr lang="en-US" dirty="0"/>
              <a:t>The result of the </a:t>
            </a:r>
            <a:r>
              <a:rPr lang="en-US" b="1" dirty="0"/>
              <a:t>Action</a:t>
            </a:r>
            <a:r>
              <a:rPr lang="en-US" dirty="0"/>
              <a:t> or </a:t>
            </a:r>
            <a:r>
              <a:rPr lang="en-US" b="1" dirty="0"/>
              <a:t>Tool</a:t>
            </a:r>
            <a:r>
              <a:rPr lang="en-US" dirty="0"/>
              <a:t> use is often fed back to the </a:t>
            </a:r>
            <a:r>
              <a:rPr lang="en-US" b="1" dirty="0"/>
              <a:t>Agent</a:t>
            </a:r>
            <a:r>
              <a:rPr lang="en-US" dirty="0"/>
              <a:t> (and sometimes to </a:t>
            </a:r>
            <a:r>
              <a:rPr lang="en-US" b="1" dirty="0"/>
              <a:t>Tools</a:t>
            </a:r>
            <a:r>
              <a:rPr lang="en-US" dirty="0"/>
              <a:t> and </a:t>
            </a:r>
            <a:r>
              <a:rPr lang="en-US" b="1" dirty="0"/>
              <a:t>Memory</a:t>
            </a:r>
            <a:r>
              <a:rPr lang="en-US" dirty="0"/>
              <a:t> via dashed lines, indicating auxiliary feedback loops) for the next step of </a:t>
            </a:r>
            <a:r>
              <a:rPr lang="en-US" b="1" dirty="0"/>
              <a:t>Planning</a:t>
            </a:r>
            <a:r>
              <a:rPr lang="en-US" dirty="0"/>
              <a:t>.</a:t>
            </a:r>
          </a:p>
          <a:p>
            <a:endParaRPr lang="en-IN" dirty="0"/>
          </a:p>
        </p:txBody>
      </p:sp>
    </p:spTree>
    <p:extLst>
      <p:ext uri="{BB962C8B-B14F-4D97-AF65-F5344CB8AC3E}">
        <p14:creationId xmlns:p14="http://schemas.microsoft.com/office/powerpoint/2010/main" val="30950830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BFCF2-EF64-CE67-B2E9-1F1A19C20778}"/>
              </a:ext>
            </a:extLst>
          </p:cNvPr>
          <p:cNvSpPr>
            <a:spLocks noGrp="1"/>
          </p:cNvSpPr>
          <p:nvPr>
            <p:ph type="ctrTitle"/>
          </p:nvPr>
        </p:nvSpPr>
        <p:spPr/>
        <p:txBody>
          <a:bodyPr/>
          <a:lstStyle/>
          <a:p>
            <a:r>
              <a:rPr lang="en-IN" dirty="0"/>
              <a:t>Exploring and Observing AI Agent </a:t>
            </a:r>
            <a:r>
              <a:rPr lang="en-IN"/>
              <a:t>with google Colab</a:t>
            </a:r>
          </a:p>
        </p:txBody>
      </p:sp>
      <p:sp>
        <p:nvSpPr>
          <p:cNvPr id="3" name="Subtitle 2">
            <a:extLst>
              <a:ext uri="{FF2B5EF4-FFF2-40B4-BE49-F238E27FC236}">
                <a16:creationId xmlns:a16="http://schemas.microsoft.com/office/drawing/2014/main" id="{958F1BD9-A843-7433-B000-C716EE0C5F9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584136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33711-CB36-D447-D01F-A744E61A30D6}"/>
              </a:ext>
            </a:extLst>
          </p:cNvPr>
          <p:cNvSpPr>
            <a:spLocks noGrp="1"/>
          </p:cNvSpPr>
          <p:nvPr>
            <p:ph type="ctrTitle"/>
          </p:nvPr>
        </p:nvSpPr>
        <p:spPr/>
        <p:txBody>
          <a:bodyPr/>
          <a:lstStyle/>
          <a:p>
            <a:r>
              <a:rPr lang="en-IN" dirty="0"/>
              <a:t>Exercise-To Recollect RAG</a:t>
            </a:r>
          </a:p>
        </p:txBody>
      </p:sp>
      <p:sp>
        <p:nvSpPr>
          <p:cNvPr id="3" name="Subtitle 2">
            <a:extLst>
              <a:ext uri="{FF2B5EF4-FFF2-40B4-BE49-F238E27FC236}">
                <a16:creationId xmlns:a16="http://schemas.microsoft.com/office/drawing/2014/main" id="{5D3F1D63-02CD-677A-AD73-795DCEED7EBA}"/>
              </a:ext>
            </a:extLst>
          </p:cNvPr>
          <p:cNvSpPr>
            <a:spLocks noGrp="1"/>
          </p:cNvSpPr>
          <p:nvPr>
            <p:ph type="subTitle" idx="1"/>
          </p:nvPr>
        </p:nvSpPr>
        <p:spPr/>
        <p:txBody>
          <a:bodyPr/>
          <a:lstStyle/>
          <a:p>
            <a:r>
              <a:rPr lang="en-IN" dirty="0"/>
              <a:t>Premalatha T</a:t>
            </a:r>
          </a:p>
        </p:txBody>
      </p:sp>
    </p:spTree>
    <p:extLst>
      <p:ext uri="{BB962C8B-B14F-4D97-AF65-F5344CB8AC3E}">
        <p14:creationId xmlns:p14="http://schemas.microsoft.com/office/powerpoint/2010/main" val="698715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5C06E-0EEB-6124-A5A7-691ABDEB060A}"/>
              </a:ext>
            </a:extLst>
          </p:cNvPr>
          <p:cNvSpPr>
            <a:spLocks noGrp="1"/>
          </p:cNvSpPr>
          <p:nvPr>
            <p:ph type="ctrTitle"/>
          </p:nvPr>
        </p:nvSpPr>
        <p:spPr/>
        <p:txBody>
          <a:bodyPr/>
          <a:lstStyle/>
          <a:p>
            <a:r>
              <a:rPr lang="en-IN" dirty="0"/>
              <a:t>Build RAG Agent using </a:t>
            </a:r>
            <a:r>
              <a:rPr lang="en-IN" dirty="0" err="1"/>
              <a:t>flowise</a:t>
            </a:r>
            <a:endParaRPr lang="en-IN" dirty="0"/>
          </a:p>
        </p:txBody>
      </p:sp>
      <p:sp>
        <p:nvSpPr>
          <p:cNvPr id="3" name="Subtitle 2">
            <a:extLst>
              <a:ext uri="{FF2B5EF4-FFF2-40B4-BE49-F238E27FC236}">
                <a16:creationId xmlns:a16="http://schemas.microsoft.com/office/drawing/2014/main" id="{9543470D-60FA-222A-E8C4-07C9620CB954}"/>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40720660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732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139</TotalTime>
  <Words>906</Words>
  <Application>Microsoft Office PowerPoint</Application>
  <PresentationFormat>On-screen Show (4:3)</PresentationFormat>
  <Paragraphs>91</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Google Sans Text</vt:lpstr>
      <vt:lpstr>Office Theme</vt:lpstr>
      <vt:lpstr>PowerPoint Presentation</vt:lpstr>
      <vt:lpstr>PowerPoint Presentation</vt:lpstr>
      <vt:lpstr>PowerPoint Presentation</vt:lpstr>
      <vt:lpstr>What is an AI Agent?</vt:lpstr>
      <vt:lpstr>PowerPoint Presentation</vt:lpstr>
      <vt:lpstr>Agent vs LLM vs RAG</vt:lpstr>
      <vt:lpstr>PowerPoint Presentation</vt:lpstr>
      <vt:lpstr>PowerPoint Presentation</vt:lpstr>
      <vt:lpstr>Building Blocks of AI Agents</vt:lpstr>
      <vt:lpstr>PowerPoint Presentation</vt:lpstr>
      <vt:lpstr>PowerPoint Presentation</vt:lpstr>
      <vt:lpstr>PowerPoint Presentation</vt:lpstr>
      <vt:lpstr>Agentic AI Design Patterns</vt:lpstr>
      <vt:lpstr>PowerPoint Presentation</vt:lpstr>
      <vt:lpstr>PowerPoint Presentation</vt:lpstr>
      <vt:lpstr>PowerPoint Presentation</vt:lpstr>
      <vt:lpstr>PowerPoint Presentation</vt:lpstr>
      <vt:lpstr>PowerPoint Presentation</vt:lpstr>
      <vt:lpstr>Levels of Agentic AI Systems</vt:lpstr>
      <vt:lpstr>PowerPoint Presentation</vt:lpstr>
      <vt:lpstr>PowerPoint Presentation</vt:lpstr>
      <vt:lpstr>PowerPoint Presentation</vt:lpstr>
      <vt:lpstr>PowerPoint Presentation</vt:lpstr>
      <vt:lpstr>PowerPoint Presentation</vt:lpstr>
      <vt:lpstr>PowerPoint Presentation</vt:lpstr>
      <vt:lpstr>The Core: Agent</vt:lpstr>
      <vt:lpstr>Memory</vt:lpstr>
      <vt:lpstr>Tools</vt:lpstr>
      <vt:lpstr>Planning &amp; Reflection</vt:lpstr>
      <vt:lpstr>Action</vt:lpstr>
      <vt:lpstr>Flow of Operation</vt:lpstr>
      <vt:lpstr>Exploring and Observing AI Agent with google Colab</vt:lpstr>
      <vt:lpstr>Exercise-To Recollect RAG</vt:lpstr>
      <vt:lpstr>Build RAG Agent using flowise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Premalatha</dc:creator>
  <cp:keywords/>
  <dc:description>generated using python-pptx</dc:description>
  <cp:lastModifiedBy>Latha T K</cp:lastModifiedBy>
  <cp:revision>6</cp:revision>
  <dcterms:created xsi:type="dcterms:W3CDTF">2013-01-27T09:14:16Z</dcterms:created>
  <dcterms:modified xsi:type="dcterms:W3CDTF">2025-10-22T03:20:24Z</dcterms:modified>
  <cp:category/>
</cp:coreProperties>
</file>